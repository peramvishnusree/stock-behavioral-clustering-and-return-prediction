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Stock Behavioral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A8C8E8"/>
                </a:solidFill>
                <a:latin typeface="Calibri"/>
              </a:rPr>
              <a:t>&amp; Return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DDCEC"/>
                </a:solidFill>
                <a:latin typeface="Calibri"/>
              </a:rPr>
              <a:t>Do data-driven behavioral groupings reveal market structure that GICS sectors miss?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486400"/>
            <a:ext cx="36576" cy="9144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Vishnu Peram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8C8E8"/>
                </a:solidFill>
                <a:latin typeface="Calibri"/>
              </a:rPr>
              <a:t>DATA 255 · Data Mining · Final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BAFD4"/>
                </a:solidFill>
                <a:latin typeface="Calibri"/>
              </a:rPr>
              <a:t>San José State University ·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Roadmap of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12 steps from problem definition to deployment, mapped to the rubric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8249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Problem statement &amp; 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8249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Slides 3–5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66544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8483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031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Data sources &amp; warehouse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103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Slides 6–7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05456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52374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Pipeline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52374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 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07792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44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94436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 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346704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36499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Feature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36499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Slides 10–11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40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6732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78561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EDA &amp; 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8561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Slides 12–14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69664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8795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2062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Clustering — Part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2062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Slides 15–19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90288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608576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62686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Classification — Part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62686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Slides 20–22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10912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0292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047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Results &amp;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04748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 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431536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49824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4681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Conclusions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4681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 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852160"/>
            <a:ext cx="548640" cy="3657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87044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88873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Future 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88873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Slide 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01 ·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Why GICS sectors may not capture how stocks behave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The official taxonomy classifies by business activity — not by trading character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6DA4"/>
                </a:solidFill>
                <a:latin typeface="Calibri"/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GICS labels are assigned by primary business activity (what a company does)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Stock prices are driven by market dynamics, factor exposure, and sentiment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These two views can disagree — e.g. NVDA (Tech) and CEG (Utilities) both rallied on AI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During macro narratives, otherwise unrelated stocks move together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6DA4"/>
                </a:solidFill>
                <a:latin typeface="Calibri"/>
              </a:rPr>
              <a:t>The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>
                <a:solidFill>
                  <a:srgbClr val="1B3A5C"/>
                </a:solidFill>
                <a:latin typeface="Calibri"/>
              </a:rPr>
              <a:t>• Cluster stocks by their actual price behavior over 5 years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>
                <a:solidFill>
                  <a:srgbClr val="1B3A5C"/>
                </a:solidFill>
                <a:latin typeface="Calibri"/>
              </a:rPr>
              <a:t>• Compare data-driven groupings to official GICS sectors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>
                <a:solidFill>
                  <a:srgbClr val="1B3A5C"/>
                </a:solidFill>
                <a:latin typeface="Calibri"/>
              </a:rPr>
              <a:t>• Test whether knowing the behavioral cluster improves prediction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>
                <a:solidFill>
                  <a:srgbClr val="1B3A5C"/>
                </a:solidFill>
                <a:latin typeface="Calibri"/>
              </a:rPr>
              <a:t>• Reveal hidden risk archetypes that cross sector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01 ·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Formal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Two coupled sub-questions tested on 5 years of daily price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1828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Do S&amp;P 500 stocks form distinct behavioral clusters that diverge from their official
GICS sector classifications when grouped by market-adjusted price behavior and risk profile —
and can technical indicators, enriched by behavioral cluster membership, predict short-term
return direction?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Calibri"/>
              </a:rPr>
              <a:t>RQ1 —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When clustered using market-adjusted returns, volatility, momentum, and risk features, do the resulting groups align with or diverge from the 11 official GICS sectors?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Calibri"/>
              </a:rPr>
              <a:t>RQ2 —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Do technical indicators, augmented with behavioral cluster labels from RQ1, improve classification accuracy for predicting whether a stock's 5-day forward return is positive?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01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The AI boom — a real-world example of the cross-sector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When a single narrative dominates, sectors stop describing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Three stocks that moved together for the same AI-infrastructure reason — across IT and Utilities sectors: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0972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109728" cy="8229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NVDA (Nvidia)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Information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432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Theme: AI compute &amp; power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97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2E6DA4"/>
                </a:solidFill>
                <a:latin typeface="Calibri"/>
              </a:rPr>
              <a:t>+239%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9718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2023 calendar return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0972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109728" cy="82296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CEG (Constellation Energy)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Utilities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033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Theme: AI compute &amp; power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6576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0AD4E"/>
                </a:solidFill>
                <a:latin typeface="Calibri"/>
              </a:rPr>
              <a:t>+93%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931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2024 calendar return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10972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109728" cy="82296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VST (Vistra)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463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Utilities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663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Theme: AI compute &amp; power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6177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5CB85C"/>
                </a:solidFill>
                <a:latin typeface="Calibri"/>
              </a:rPr>
              <a:t>+258%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8920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2024 calendar return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6DA4"/>
                </a:solidFill>
                <a:latin typeface="Calibri"/>
              </a:rPr>
              <a:t>Different GICS sectors (IT vs Utilities) — but their stocks rallied on the same macro narrative.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02 ·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Three free, programmatically-accessible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All data is public, reproducible, and requires no paid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874519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it provides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74519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Access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874519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Yahoo Finance (yfinance)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Daily OHLCV for all S&amp;P 500 tickers +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yfinance.download()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3774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~743,837 stock-days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26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Wikipedia constituent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9260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Tickers, GICS sectors, sub-industries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pd.read_html()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9260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503 tickers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747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^GSPC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4747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S&amp;P 500 market benchmark — for excess returns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4747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yfinance.download()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747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1,509 trading 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Why 2019–2024?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1B3A5C"/>
                </a:solidFill>
                <a:latin typeface="Calibri"/>
              </a:rPr>
              <a:t>• Pre-COVID bull (2019) → COVID crash (Mar 2020) → V-shaped recovery (2020–21)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1B3A5C"/>
                </a:solidFill>
                <a:latin typeface="Calibri"/>
              </a:rPr>
              <a:t>• Inflation + Fed hiking cycle (2022 bear market) → AI-driven bull (2023–24)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1B3A5C"/>
                </a:solidFill>
                <a:latin typeface="Calibri"/>
              </a:rPr>
              <a:t>• 5 distinct market regimes in one panel — clusters reflect a stock's character across all conditions, not just one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02 · DATA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Star schema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One central fact table joined to three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926080"/>
            <a:ext cx="2926080" cy="146304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3063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daily_returns_fact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5661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OHLCV · returns · excess return
5-day forward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88720"/>
            <a:ext cx="2743200" cy="914400"/>
          </a:xfrm>
          <a:prstGeom prst="rect">
            <a:avLst/>
          </a:prstGeom>
          <a:solidFill>
            <a:srgbClr val="D6E8F7"/>
          </a:solidFill>
          <a:ln w="63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12618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Calibri"/>
              </a:rPr>
              <a:t>stock_dim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600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ticker · company
GICS sector · sub-industry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188720"/>
            <a:ext cx="2743200" cy="914400"/>
          </a:xfrm>
          <a:prstGeom prst="rect">
            <a:avLst/>
          </a:prstGeom>
          <a:solidFill>
            <a:srgbClr val="D6E8F7"/>
          </a:solidFill>
          <a:ln w="63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2618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Calibri"/>
              </a:rPr>
              <a:t>time_dim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600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date · year · quarter
macro_regime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5577840"/>
            <a:ext cx="2743200" cy="914400"/>
          </a:xfrm>
          <a:prstGeom prst="rect">
            <a:avLst/>
          </a:prstGeom>
          <a:solidFill>
            <a:srgbClr val="D6E8F7"/>
          </a:solidFill>
          <a:ln w="63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6509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Calibri"/>
              </a:rPr>
              <a:t>technical_features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98932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RSI · MACD · ATR · OBV
beta · volatility · MAs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2194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743,837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fact rows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5760720"/>
            <a:ext cx="2194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585216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501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3093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tickers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5760720"/>
            <a:ext cx="2194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585216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63093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feature cols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5760720"/>
            <a:ext cx="2194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585216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63093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GICS sectors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 ·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End-to-end data + ML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Modular, cached, fully reproducible from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727" y="2286000"/>
            <a:ext cx="2103120" cy="1828800"/>
          </a:xfrm>
          <a:prstGeom prst="rect">
            <a:avLst/>
          </a:prstGeom>
          <a:solidFill>
            <a:srgbClr val="D6E8F7"/>
          </a:solidFill>
          <a:ln w="63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727" y="2286000"/>
            <a:ext cx="210312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727" y="23317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788920"/>
            <a:ext cx="1920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3A5C"/>
                </a:solidFill>
                <a:latin typeface="Calibri"/>
              </a:rPr>
              <a:t>Wikipedia + yfinance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27" y="36118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6DA4"/>
                </a:solidFill>
                <a:latin typeface="Calibri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3840480"/>
            <a:ext cx="1920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C757D"/>
                </a:solidFill>
                <a:latin typeface="Calibri"/>
              </a:rPr>
              <a:t>fact_table.parquet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1127" y="30175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4007" y="2286000"/>
            <a:ext cx="2103120" cy="1828800"/>
          </a:xfrm>
          <a:prstGeom prst="rect">
            <a:avLst/>
          </a:prstGeom>
          <a:solidFill>
            <a:srgbClr val="D6E8F7"/>
          </a:solidFill>
          <a:ln w="63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4007" y="2286000"/>
            <a:ext cx="210312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4007" y="23317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447" y="2788920"/>
            <a:ext cx="1920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3A5C"/>
                </a:solidFill>
                <a:latin typeface="Calibri"/>
              </a:rPr>
              <a:t>Technical indicators
Behavioral fingerprints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007" y="36118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6DA4"/>
                </a:solidFill>
                <a:latin typeface="Calibr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5447" y="3840480"/>
            <a:ext cx="1920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C757D"/>
                </a:solidFill>
                <a:latin typeface="Calibri"/>
              </a:rPr>
              <a:t>technicals + fingerprints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1407" y="30175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4287" y="2286000"/>
            <a:ext cx="2103120" cy="1828800"/>
          </a:xfrm>
          <a:prstGeom prst="rect">
            <a:avLst/>
          </a:prstGeom>
          <a:solidFill>
            <a:srgbClr val="D6E8F7"/>
          </a:solidFill>
          <a:ln w="63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4287" y="2286000"/>
            <a:ext cx="210312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4287" y="23317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5727" y="2788920"/>
            <a:ext cx="1920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3A5C"/>
                </a:solidFill>
                <a:latin typeface="Calibri"/>
              </a:rPr>
              <a:t>K-Means + Hierarchical
+ DBSCAN + PCA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4287" y="36118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6DA4"/>
                </a:solidFill>
                <a:latin typeface="Calibri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5727" y="3840480"/>
            <a:ext cx="1920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C757D"/>
                </a:solidFill>
                <a:latin typeface="Calibri"/>
              </a:rPr>
              <a:t>cluster_assignments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1687" y="30175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84567" y="2286000"/>
            <a:ext cx="2103120" cy="1828800"/>
          </a:xfrm>
          <a:prstGeom prst="rect">
            <a:avLst/>
          </a:prstGeom>
          <a:solidFill>
            <a:srgbClr val="D6E8F7"/>
          </a:solidFill>
          <a:ln w="63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84567" y="2286000"/>
            <a:ext cx="210312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4567" y="23317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6007" y="2788920"/>
            <a:ext cx="1920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3A5C"/>
                </a:solidFill>
                <a:latin typeface="Calibri"/>
              </a:rPr>
              <a:t>LogReg / Tree / RF / XGB
with vs without cluster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4567" y="36118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6DA4"/>
                </a:solidFill>
                <a:latin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6007" y="3840480"/>
            <a:ext cx="1920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C757D"/>
                </a:solidFill>
                <a:latin typeface="Calibri"/>
              </a:rPr>
              <a:t>classification_metrics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1967" y="30175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24847" y="2286000"/>
            <a:ext cx="2103120" cy="1828800"/>
          </a:xfrm>
          <a:prstGeom prst="rect">
            <a:avLst/>
          </a:prstGeom>
          <a:solidFill>
            <a:srgbClr val="D6E8F7"/>
          </a:solidFill>
          <a:ln w="63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24847" y="2286000"/>
            <a:ext cx="210312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4847" y="23317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Visualize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6287" y="2788920"/>
            <a:ext cx="1920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3A5C"/>
                </a:solidFill>
                <a:latin typeface="Calibri"/>
              </a:rPr>
              <a:t>Streamlit dashboard
5 interactive pages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4847" y="36118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6DA4"/>
                </a:solidFill>
                <a:latin typeface="Calibri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6287" y="3840480"/>
            <a:ext cx="1920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C757D"/>
                </a:solidFill>
                <a:latin typeface="Calibri"/>
              </a:rPr>
              <a:t>live URL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solidFill>
            <a:srgbClr val="F4F6F9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3A5C"/>
                </a:solidFill>
                <a:latin typeface="Calibri"/>
              </a:rPr>
              <a:t>Each stage caches its outputs as parquet. Re-running is incremental — only invalidated stages recompute.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First full run: 5–10 min · Cached re-runs: &lt;5 sec · Pipeline command: python pipeline.py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04 ·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From raw prices to model-ready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Five preprocessing passes ensure the data is statistically clean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09728" cy="9144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Returns honesty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874519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pct_change(fill_method=None) — gaps stay as NaN instead of being silently filled with zeros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109728" cy="91440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Market adjustment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3464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excess_return = stock_return − S&amp;P 500 return — strips out the systematic market tide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09728" cy="91440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Missing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9476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Drop rows missing core fields (adj_close, raw_return); technical indicators have warm-up NaNs that are dropped at modeling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109728" cy="9144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09159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Outlier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75488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Behavioral fingerprint features winsorized at 1st/99th percentile; daily-return outliers retained as genuine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109728" cy="9144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69279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Calibri"/>
              </a:rPr>
              <a:t>Feature scaling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7150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StandardScaler for clustering; price-relative ratios (MA / close) and log-volume to prevent magnitude domination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 · FEATURE ENGINEERING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Technical indicators (per stock-day)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8 indicators across 4 families — the standard quant-finance feature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MA(20), MA(50)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Rolling mean of close — trend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39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MACD(12,26,9)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EMA(12) − EMA(26) and signal — momentum shifts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828800"/>
            <a:ext cx="2743200" cy="45720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Momentum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28600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4231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RSI(14)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889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EMA(gains)/EMA(losses) → 0..100 — overbought/oversold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828800"/>
            <a:ext cx="2743200" cy="45720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Volatility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28600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4231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Bollinger(20, 2σ)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MA ± 2σ; band width = vol regime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20439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ATR(14)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8620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Average true daily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177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Volatility(20d)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98348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Rolling std of returns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1828800"/>
            <a:ext cx="2743200" cy="4572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Risk / Volume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28600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24231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Beta(60d)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7889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Cov(stock, market) / Var(market) — market sensitivity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520439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OBV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88620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Cumulative signed volume — accumulation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 · FEATURE ENGINEERING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Behavioral fingerprint (per stock)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Each stock collapses 5 years of daily data into a single 7-feature 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91440" cy="502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mean_excess_return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202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Average alpha — outperformance vs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95728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91440" cy="502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4144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volatility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8716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Std dev of daily excess returns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62656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62656"/>
            <a:ext cx="91440" cy="502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0837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mean_beta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05409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Average 60-day rolling beta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9584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29584"/>
            <a:ext cx="91440" cy="502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75304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mean_rsi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621024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Average RSI level — momentum tendency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96512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96512"/>
            <a:ext cx="91440" cy="502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42232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mean_bollinger_width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8795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Average band width — vol regime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91440" cy="502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091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max_drawdown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754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Worst peak-to-trough loss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30368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230368"/>
            <a:ext cx="91440" cy="502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7608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momentum_score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32180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Average rolling 12-month return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1828800"/>
            <a:ext cx="5029200" cy="411480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011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Each stock → 1 row × 7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560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6DA4"/>
                </a:solidFill>
                <a:latin typeface="Calibri"/>
              </a:rPr>
              <a:t>Aggregation pipeline: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017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1.  ~1,500 days × 8 indicators per stock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383279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2.  Aggregate to means / std / max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749039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3.  Winsorize 1st / 99th percentile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114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4.  StandardScaler normalize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4805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5.  Cluster on this 7-D vector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5212080"/>
            <a:ext cx="46634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257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E6DA4"/>
                </a:solidFill>
                <a:latin typeface="Calibri"/>
              </a:rPr>
              <a:t>495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349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stocks fingerprinted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Daily return distributions — raw vs market-adjusted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Market adjustment removes the common tide and reveals stock-specific behavior</a:t>
            </a:r>
          </a:p>
        </p:txBody>
      </p:sp>
      <p:pic>
        <p:nvPicPr>
          <p:cNvPr id="6" name="Picture 5" descr="eda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3383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828800"/>
            <a:ext cx="3291840" cy="393192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02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6DA4"/>
                </a:solidFill>
                <a:latin typeface="Calibri"/>
              </a:rPr>
              <a:t>Reading the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• Both have fat tails (extreme moves more frequent than normal distribution)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• Excess returns are tighter — the market component contributes substantial variance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• Negative skew in both — crashes are sharper than rallies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94960"/>
            <a:ext cx="2194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0.0229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Raw std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5394960"/>
            <a:ext cx="2194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54864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0.0191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9436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Excess std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5394960"/>
            <a:ext cx="2194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54864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47.0%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59436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Down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5394960"/>
            <a:ext cx="2194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54864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53.0%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9436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Up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Cumulative sector returns 2019 →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Each sector's path through five distinct market regimes</a:t>
            </a:r>
          </a:p>
        </p:txBody>
      </p:sp>
      <p:pic>
        <p:nvPicPr>
          <p:cNvPr id="6" name="Picture 5" descr="eda_s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3A5C"/>
                </a:solidFill>
                <a:latin typeface="Calibri"/>
              </a:rPr>
              <a:t>Tech and Communication Services led the period; Energy whip-sawed; defensives lagged.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Cross-stock correlation — the sector-vs-behavior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Even within the same period, stocks group by macro factor, not just sector</a:t>
            </a:r>
          </a:p>
        </p:txBody>
      </p:sp>
      <p:pic>
        <p:nvPicPr>
          <p:cNvPr id="6" name="Picture 5" descr="eda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400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1737360"/>
            <a:ext cx="4572000" cy="438912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6DA4"/>
                </a:solidFill>
                <a:latin typeface="Calibri"/>
              </a:rPr>
              <a:t>What the heatmap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60 stocks (~5 per sector). Red = positive correlation, blue = negative. If sectors fully explained behavior, we'd see clean diagonal blocks.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11480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420624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0.492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66344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Avg within-sector corr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52120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530352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0.369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7607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Avg cross-sector corr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07 · CLUSTERING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Three algorithms, one feature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Same 7-D fingerprint → three different ways of finding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54864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K-Means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34747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Partition into k spherical clusters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Pick K via elbow + silhouette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Random_state=42 for reproducibility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Final K =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474720" cy="54864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19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Hierarchical (Ward)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377440"/>
            <a:ext cx="34747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Builds a nested cluster tree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No need to pre-specify 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Dendrogram shows merge structure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Cut tree at K = 5 for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3474720" cy="54864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19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DBSCAN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377440"/>
            <a:ext cx="34747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46888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Density-based — finds non-spherical clusters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Identifies outliers as noise (label = -1)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Useful for detecting idiosyncratic stocks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eps = 0.9, min_samples =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Calibri"/>
              </a:rPr>
              <a:t>Evaluation: silhouette (cluster quality) + ARI vs GICS sectors (do they match official labels?)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07 ·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Choosing K — elbow + silhouette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Silhouette peaks at K=2; we chose K=5 as an interpretability-driven compromise near the elbow</a:t>
            </a:r>
          </a:p>
        </p:txBody>
      </p:sp>
      <p:pic>
        <p:nvPicPr>
          <p:cNvPr id="6" name="Picture 5" descr="kmeans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828800"/>
            <a:ext cx="3291840" cy="411480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02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6DA4"/>
                </a:solidFill>
                <a:latin typeface="Calibri"/>
              </a:rPr>
              <a:t>Diagnostics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2377440"/>
            <a:ext cx="2926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4688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K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9260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Silhouette peak (0.393)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3520440"/>
            <a:ext cx="2926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6118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K =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0690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Chosen (silhouette 0.256)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66344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B3A5C"/>
                </a:solidFill>
                <a:latin typeface="Calibri"/>
              </a:rPr>
              <a:t>K=2 maximizes silhouette but produces clusters too coarse for the 11-sector comparison. K=5 trades silhouette for interpretability.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07 ·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PCA projection — clusters vs GICS 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Same 2D space, two color schemes — visual evidence of structural mismatch</a:t>
            </a:r>
          </a:p>
        </p:txBody>
      </p:sp>
      <p:pic>
        <p:nvPicPr>
          <p:cNvPr id="6" name="Picture 5" descr="pca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3A5C"/>
                </a:solidFill>
                <a:latin typeface="Calibri"/>
              </a:rPr>
              <a:t>PC1 explains 50.8% · PC2 explains 34.5% · combined 85.3% of variance.  Clusters are clean blobs; sectors overlap substantially in this 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07 · CLUSTERING — KEY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Behavioral clusters do not equal GICS 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Adjusted Rand Index quantifies the disagreement</a:t>
            </a:r>
          </a:p>
        </p:txBody>
      </p:sp>
      <p:pic>
        <p:nvPicPr>
          <p:cNvPr id="6" name="Picture 5" descr="cluster_secto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3152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737360"/>
            <a:ext cx="3657600" cy="438912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Adjusted Rand Index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28600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0.045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8346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K-Means ARI vs GICS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4747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0.026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931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Hierarchical ARI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48056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5720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0.256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0292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K-Means silhouette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57784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ARI = 0 → independent · ARI = 1 → identical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07 ·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What does each cluster look like?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Centroid profile reveals the behavioral archetype</a:t>
            </a:r>
          </a:p>
        </p:txBody>
      </p:sp>
      <p:pic>
        <p:nvPicPr>
          <p:cNvPr id="6" name="Picture 5" descr="cluster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400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1737360"/>
            <a:ext cx="4572000" cy="438912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Cluster sizes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286000"/>
            <a:ext cx="1137424" cy="2743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C0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1264" y="2286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51 stocks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743200"/>
            <a:ext cx="2587082" cy="27432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7432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0922" y="2743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116 stocks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200400"/>
            <a:ext cx="401443" cy="27432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200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5283" y="3200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18 stocks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657600"/>
            <a:ext cx="3657600" cy="2743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6576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3657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164 stocks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114800"/>
            <a:ext cx="3256156" cy="2743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41148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  <a:latin typeface="Calibri"/>
              </a:rPr>
              <a:t>C4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9996" y="4114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146 stocks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120640"/>
            <a:ext cx="4297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B3A5C"/>
                </a:solidFill>
                <a:latin typeface="Calibri"/>
              </a:rPr>
              <a:t>Each cluster is a risk archetype — distinct combinations of return, volatility, and trend behavior.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08 · CLASSIFICATION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Predict 5-day forward direction; test whether cluster label adds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  <a:latin typeface="Calibri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202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forward_5day_direction (binary)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95728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  <a:latin typeface="Calibri"/>
              </a:rPr>
              <a:t>Features w/o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4871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14 technical indicators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62656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5409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  <a:latin typeface="Calibri"/>
              </a:rPr>
              <a:t>Features w/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5409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14 technicals + behavioral cluster label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2102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  <a:latin typeface="Calibri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62102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Years &lt; 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96512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8795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  <a:latin typeface="Calibri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1879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2023–2024 (held-out future)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  <a:latin typeface="Calibri"/>
              </a:rPr>
              <a:t>Split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7548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Temporal (no random shuffling on time series)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3774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Logistic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700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Linear baseline — sets the predictability floor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1546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Decision Tree (depth=8)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44728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Interpretable non-linear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931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Random Forest (200 trees)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2452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Primary model — handles interactions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709159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XGBoost (300 rounds)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00176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Strongest model — boosted gradient trees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Naive 'always-up' baseline accuracy: 0.538 — any model must beat this meaningfully.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08 · CLASSIFICATION —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Model comparison: ROC-AUC with vs without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Cluster label adds a small but consistent AUC lift across all 4 models</a:t>
            </a:r>
          </a:p>
        </p:txBody>
      </p:sp>
      <p:pic>
        <p:nvPicPr>
          <p:cNvPr id="6" name="Picture 5" descr="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828800"/>
            <a:ext cx="3291840" cy="411480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02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6DA4"/>
                </a:solidFill>
                <a:latin typeface="Calibri"/>
              </a:rPr>
              <a:t>Best 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2331720"/>
            <a:ext cx="2926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4231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0.507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880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520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6DA4"/>
                </a:solidFill>
                <a:latin typeface="Calibri"/>
              </a:rPr>
              <a:t>AUC delta (avg)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3886200"/>
            <a:ext cx="2926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9776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  <a:latin typeface="Calibri"/>
              </a:rPr>
              <a:t>+0.0049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4348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4/4 models improved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0292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B3A5C"/>
                </a:solidFill>
                <a:latin typeface="Calibri"/>
              </a:rPr>
              <a:t>AUC barely above 0.5 — weak ranking signal, consistent with weak-form market efficiency.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08 ·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What features drive the prediction?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Random Forest feature importance — RSI and momentum dominate</a:t>
            </a:r>
          </a:p>
        </p:txBody>
      </p:sp>
      <p:pic>
        <p:nvPicPr>
          <p:cNvPr id="6" name="Picture 5" descr="feat_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828800"/>
            <a:ext cx="3291840" cy="411480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02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6DA4"/>
                </a:solidFill>
                <a:latin typeface="Calibri"/>
              </a:rPr>
              <a:t>Top 3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2286000"/>
            <a:ext cx="2926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3774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latin typeface="Calibri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060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3A5C"/>
                </a:solidFill>
                <a:latin typeface="Calibri"/>
              </a:rPr>
              <a:t>beta_60d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importance: 0.108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3337560"/>
            <a:ext cx="2926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4290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latin typeface="Calibri"/>
              </a:rPr>
              <a:t>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657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3A5C"/>
                </a:solidFill>
                <a:latin typeface="Calibri"/>
              </a:rPr>
              <a:t>volatility_20d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importance: 0.101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4389120"/>
            <a:ext cx="2926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448055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latin typeface="Calibri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7091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3A5C"/>
                </a:solidFill>
                <a:latin typeface="Calibri"/>
              </a:rPr>
              <a:t>obv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029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importance: 0.093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09 · 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Headline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What the analysis ultimately demonstrates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E6DA4"/>
                </a:solidFill>
                <a:latin typeface="Calibri"/>
              </a:rPr>
              <a:t>501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C757D"/>
                </a:solidFill>
                <a:latin typeface="Calibri"/>
              </a:rPr>
              <a:t>Tickers analyzed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E6DA4"/>
                </a:solidFill>
                <a:latin typeface="Calibri"/>
              </a:rPr>
              <a:t>743,837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C757D"/>
                </a:solidFill>
                <a:latin typeface="Calibri"/>
              </a:rPr>
              <a:t>Stock-day rows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82880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E6DA4"/>
                </a:solidFill>
                <a:latin typeface="Calibri"/>
              </a:rPr>
              <a:t>0.045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97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C757D"/>
                </a:solidFill>
                <a:latin typeface="Calibri"/>
              </a:rPr>
              <a:t>ARI (clusters vs GICS)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E6DA4"/>
                </a:solidFill>
                <a:latin typeface="Calibri"/>
              </a:rPr>
              <a:t>0.507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C757D"/>
                </a:solidFill>
                <a:latin typeface="Calibri"/>
              </a:rPr>
              <a:t>Best ROC-AUC (Decision Tree)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29184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42900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E6DA4"/>
                </a:solidFill>
                <a:latin typeface="Calibri"/>
              </a:rPr>
              <a:t>0.533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1605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C757D"/>
                </a:solidFill>
                <a:latin typeface="Calibri"/>
              </a:rPr>
              <a:t>Best accuracy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29184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42900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E6DA4"/>
                </a:solidFill>
                <a:latin typeface="Calibri"/>
              </a:rPr>
              <a:t>0.538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1605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C757D"/>
                </a:solidFill>
                <a:latin typeface="Calibri"/>
              </a:rPr>
              <a:t>Test baseline (always-up)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8C8E8"/>
                </a:solidFill>
                <a:latin typeface="Calibri"/>
              </a:rPr>
              <a:t>Take-home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406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Behavioral clusters show weak alignment with GICS sectors (ARI = 0.045). Best ROC-AUC of 0.507 is slightly above random ranking, but best accuracy (0.533) is below the test baseline (0.538) — models do NOT beat the directional baseline. Consistent with weak-form market efficiency. Cluster label gives a small AUC lift.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10 ·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Three findings that answer the 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37160" cy="14173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6DA4"/>
                </a:solidFill>
                <a:latin typeface="Calibri"/>
              </a:rPr>
              <a:t>Finding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Behavioral clusters show weak alignment with GICS sectors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ARI = 0.045 (near 0 = random alignment). Clusters group stocks by risk profile (growth, defensive, cyclical) rather than industry. The official taxonomy does not capture this structural lens. RQ1 supported.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1247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37160" cy="141732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AD4E"/>
                </a:solidFill>
                <a:latin typeface="Calibri"/>
              </a:rPr>
              <a:t>Finding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Models do NOT beat the naive baseline on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Best ROC-AUC = 0.507 — slightly above random ranking. Best accuracy = 0.533, BELOW the test-set always-up baseline of 0.538. Weak ranking signal exists but cannot translate into directional accuracy. Consistent with weak-form market efficiency.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11247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137160" cy="141732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B85C"/>
                </a:solidFill>
                <a:latin typeface="Calibri"/>
              </a:rPr>
              <a:t>Finding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Cluster label adds a small AUC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Adding one-hot encoded cluster labels changed average ROC-AUC by +0.0049. Lift is consistent but small; warrants statistical significance testing in future work before any operational 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11 · FUTURE WORK &amp; 12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Calibri"/>
              </a:rPr>
              <a:t>Where next, and how it's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Honest limitations + the live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Calibri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Survivorship bias: include delisted stocks via CRSP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Rolling-window clustering — capture regime-shifting behavior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Multi-horizon prediction (1-day, 20-day, 60-day)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Transaction costs + position sizing → economic Sharpe ratio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Add fundamentals (P/E, earnings surprise) and news sentiment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Deep models (LSTM, transformer) on raw OHLCV sequences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Calibri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3A5C"/>
                </a:solidFill>
                <a:latin typeface="Calibri"/>
              </a:rPr>
              <a:t>Streamlit Community Cloud (free tier)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C757D"/>
                </a:solidFill>
                <a:latin typeface="Calibri"/>
              </a:rPr>
              <a:t>Repo: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github.com/PeramVishnuSree/Stock-Behavioral-Clustering-and-Return-Prediction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566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  <a:latin typeface="Calibri"/>
              </a:rPr>
              <a:t>Live dashboard pages: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931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1B3A5C"/>
                </a:solidFill>
                <a:latin typeface="Calibri"/>
              </a:rPr>
              <a:t>• 📊  Data Overview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1B3A5C"/>
                </a:solidFill>
                <a:latin typeface="Calibri"/>
              </a:rPr>
              <a:t>• 📈  EDA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1B3A5C"/>
                </a:solidFill>
                <a:latin typeface="Calibri"/>
              </a:rPr>
              <a:t>• 🎯  Clustering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1B3A5C"/>
                </a:solidFill>
                <a:latin typeface="Calibri"/>
              </a:rPr>
              <a:t>• 🔮  Prediction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1B3A5C"/>
                </a:solidFill>
                <a:latin typeface="Calibri"/>
              </a:rPr>
              <a:t>• 📋  Methodology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Vishnu Peram · DATA 255 · SJSU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