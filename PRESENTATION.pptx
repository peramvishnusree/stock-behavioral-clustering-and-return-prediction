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1695" cy="457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Stock Behavioral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A8C8E8"/>
                </a:solidFill>
                <a:latin typeface="Calibri"/>
              </a:rPr>
              <a:t>&amp; Return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DDCEC"/>
                </a:solidFill>
                <a:latin typeface="Calibri"/>
              </a:rPr>
              <a:t>Do data-driven behavioral groupings reveal market structure that GICS sectors miss?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486400"/>
            <a:ext cx="36576" cy="9144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Vishnu Peram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8C8E8"/>
                </a:solidFill>
                <a:latin typeface="Calibri"/>
              </a:rPr>
              <a:t>DATA 255 · Data Mining · Final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126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BAFD4"/>
                </a:solidFill>
                <a:latin typeface="Calibri"/>
              </a:rPr>
              <a:t>San José State University ·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Roadmap of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12 steps from problem definition to deployment, mapped to the rubric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64208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682496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Problem statement &amp; research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682496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Slides 3–5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66544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084832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1031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Data sources &amp; warehouse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210312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Slides 6–7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487168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505456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52374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Pipeline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523744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 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07792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26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2944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Preprocessing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944368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 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328416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346704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364992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Feature engineering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364992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Slides 10–11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749040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767328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3785616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EDA &amp; visualization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785616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Slides 12–14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169664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187952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2062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Clustering — Part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420624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Slides 15–19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590288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608576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0160" y="462686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Classification — Part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4626864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Slides 20–22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10912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0160" y="50474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Results &amp; evaluation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5047488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 23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431536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449824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80160" y="5468112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Conclusions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5468112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 24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852160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5870448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80160" y="5888736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Future work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5888736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 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01 ·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Why GICS sectors may not capture how stocks behave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The official taxonomy classifies by business activity — not by trading character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6DA4"/>
                </a:solidFill>
                <a:latin typeface="Calibri"/>
              </a:rPr>
              <a:t>The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774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GICS labels are assigned by primary business activity (what a company does)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Stock prices are driven by market dynamics, factor exposure, and sentiment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These two views can disagree — e.g. NVDA (Tech) and CEG (Utilities) both rallied on AI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During macro narratives, otherwise unrelated stocks move together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6DA4"/>
                </a:solidFill>
                <a:latin typeface="Calibri"/>
              </a:rPr>
              <a:t>The opportunity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3774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>
                <a:solidFill>
                  <a:srgbClr val="1B3A5C"/>
                </a:solidFill>
                <a:latin typeface="Calibri"/>
              </a:rPr>
              <a:t>• Cluster stocks by their actual price behavior over 5 years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>
                <a:solidFill>
                  <a:srgbClr val="1B3A5C"/>
                </a:solidFill>
                <a:latin typeface="Calibri"/>
              </a:rPr>
              <a:t>• Compare data-driven groupings to official GICS sectors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>
                <a:solidFill>
                  <a:srgbClr val="1B3A5C"/>
                </a:solidFill>
                <a:latin typeface="Calibri"/>
              </a:rPr>
              <a:t>• Test whether knowing the behavioral cluster improves prediction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>
                <a:solidFill>
                  <a:srgbClr val="1B3A5C"/>
                </a:solidFill>
                <a:latin typeface="Calibri"/>
              </a:rPr>
              <a:t>• Reveal hidden risk archetypes that cross sector 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01 · 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Formal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Two coupled sub-questions tested on 5 years of daily price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10972800" cy="182880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73152" cy="1828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3A5C"/>
                </a:solidFill>
                <a:latin typeface="Calibri"/>
              </a:rPr>
              <a:t>Do S&amp;P 500 stocks form distinct behavioral clusters that diverge from their official
GICS sector classifications when grouped by market-adjusted price behavior and risk profile —
and can technical indicators, enriched by behavioral cluster membership, predict short-term
return direction?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6DA4"/>
                </a:solidFill>
                <a:latin typeface="Calibri"/>
              </a:rPr>
              <a:t>RQ1 — 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5486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When clustered using market-adjusted returns, volatility, momentum, and risk features, do the resulting groups align with or diverge from the 11 official GICS sectors?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0233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6DA4"/>
                </a:solidFill>
                <a:latin typeface="Calibri"/>
              </a:rPr>
              <a:t>RQ2 — Prediction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480560"/>
            <a:ext cx="5486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Do technical indicators, augmented with behavioral cluster labels from RQ1, improve classification accuracy for predicting whether a stock's 5-day forward return is positive?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01 ·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The 2023–24 AI boom — a real-world example of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When a single narrative dominates, sectors stop describing behavior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Three stocks that moved together for the same reason — but live in different GICS sectors: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68880"/>
            <a:ext cx="109728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109728" cy="8229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060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3A5C"/>
                </a:solidFill>
                <a:latin typeface="Calibri"/>
              </a:rPr>
              <a:t>NVDA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C757D"/>
                </a:solidFill>
                <a:latin typeface="Calibri"/>
              </a:rPr>
              <a:t>Information 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7432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Theme: AI compute &amp; power demand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269748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>
                <a:solidFill>
                  <a:srgbClr val="2E6DA4"/>
                </a:solidFill>
                <a:latin typeface="Calibri"/>
              </a:rPr>
              <a:t>+239%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297180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2023 return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429000"/>
            <a:ext cx="109728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429000"/>
            <a:ext cx="109728" cy="822960"/>
          </a:xfrm>
          <a:prstGeom prst="rect">
            <a:avLst/>
          </a:prstGeom>
          <a:solidFill>
            <a:srgbClr val="F0A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3A5C"/>
                </a:solidFill>
                <a:latin typeface="Calibri"/>
              </a:rPr>
              <a:t>CEG (Constellation Energy)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88620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C757D"/>
                </a:solidFill>
                <a:latin typeface="Calibri"/>
              </a:rPr>
              <a:t>Utilities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370332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Theme: AI compute &amp; power demand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365760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>
                <a:solidFill>
                  <a:srgbClr val="F0AD4E"/>
                </a:solidFill>
                <a:latin typeface="Calibri"/>
              </a:rPr>
              <a:t>+148%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9319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2023 return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89120"/>
            <a:ext cx="109728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389120"/>
            <a:ext cx="109728" cy="822960"/>
          </a:xfrm>
          <a:prstGeom prst="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5262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3A5C"/>
                </a:solidFill>
                <a:latin typeface="Calibri"/>
              </a:rPr>
              <a:t>VST (Vistra)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84632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C757D"/>
                </a:solidFill>
                <a:latin typeface="Calibri"/>
              </a:rPr>
              <a:t>Utilities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6634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Theme: AI compute &amp; power demand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46177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>
                <a:solidFill>
                  <a:srgbClr val="5CB85C"/>
                </a:solidFill>
                <a:latin typeface="Calibri"/>
              </a:rPr>
              <a:t>+260%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8920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2023 return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2E6DA4"/>
                </a:solidFill>
                <a:latin typeface="Calibri"/>
              </a:rPr>
              <a:t>GICS calls these three stocks completely different sectors. Their stocks behaved nearly identically.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02 · DATA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Three free, programmatically-accessible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All data is public, reproducible, and requires no paid APIs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4572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874519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What it provides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874519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Access 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1874519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Volume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11247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Yahoo Finance (yfinance)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3774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Daily OHLCV for all S&amp;P 500 tickers + index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37744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yfinance.download()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237744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~743,837 stock-days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834640"/>
            <a:ext cx="1124712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9260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Wikipedia constituent list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29260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Tickers, GICS sectors, sub-industries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92608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pd.read_html()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292608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503 tickers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383280"/>
            <a:ext cx="11247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47472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^GSPC index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7472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S&amp;P 500 market benchmark — for excess returns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47472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yfinance.download()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474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1,509 trading days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297680"/>
            <a:ext cx="11247120" cy="201168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6DA4"/>
                </a:solidFill>
                <a:latin typeface="Calibri"/>
              </a:rPr>
              <a:t>Why 2019–2024?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1B3A5C"/>
                </a:solidFill>
                <a:latin typeface="Calibri"/>
              </a:rPr>
              <a:t>• Pre-COVID bull (2019) → COVID crash (Mar 2020) → V-shaped recovery (2020–21)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1B3A5C"/>
                </a:solidFill>
                <a:latin typeface="Calibri"/>
              </a:rPr>
              <a:t>• Inflation + Fed hiking cycle (2022 bear market) → AI-driven bull (2023–24)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1B3A5C"/>
                </a:solidFill>
                <a:latin typeface="Calibri"/>
              </a:rPr>
              <a:t>• 5 distinct market regimes in one panel — clusters reflect a stock's character across all conditions, not just one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02 · DATA WAREHOUSE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Star schema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One central fact table joined to three dimensions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2926080"/>
            <a:ext cx="2926080" cy="146304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306324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daily_returns_fact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566160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OHLCV · returns · excess return
5-day forward target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188720"/>
            <a:ext cx="2743200" cy="914400"/>
          </a:xfrm>
          <a:prstGeom prst="rect">
            <a:avLst/>
          </a:prstGeom>
          <a:solidFill>
            <a:srgbClr val="D6E8F7"/>
          </a:solidFill>
          <a:ln w="635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126187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B3A5C"/>
                </a:solidFill>
                <a:latin typeface="Calibri"/>
              </a:rPr>
              <a:t>stock_dim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6002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ticker · company
GICS sector · sub-industry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0" y="1188720"/>
            <a:ext cx="2743200" cy="914400"/>
          </a:xfrm>
          <a:prstGeom prst="rect">
            <a:avLst/>
          </a:prstGeom>
          <a:solidFill>
            <a:srgbClr val="D6E8F7"/>
          </a:solidFill>
          <a:ln w="635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126187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B3A5C"/>
                </a:solidFill>
                <a:latin typeface="Calibri"/>
              </a:rPr>
              <a:t>time_dim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6002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date · year · quarter
macro_regime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5577840"/>
            <a:ext cx="2743200" cy="914400"/>
          </a:xfrm>
          <a:prstGeom prst="rect">
            <a:avLst/>
          </a:prstGeom>
          <a:solidFill>
            <a:srgbClr val="D6E8F7"/>
          </a:solidFill>
          <a:ln w="635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56509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B3A5C"/>
                </a:solidFill>
                <a:latin typeface="Calibri"/>
              </a:rPr>
              <a:t>technical_features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598932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RSI · MACD · ATR · OBV
beta · volatility · MAs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760720"/>
            <a:ext cx="21945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85216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743,837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30936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fact rows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5760720"/>
            <a:ext cx="21945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0" y="585216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501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30936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tickers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5760720"/>
            <a:ext cx="21945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0" y="585216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630936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feature cols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0" y="5760720"/>
            <a:ext cx="21945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0" y="585216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630936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GICS sectors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03 ·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End-to-end data + ML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Modular, cached, fully reproducible from source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286000"/>
            <a:ext cx="2103120" cy="1828800"/>
          </a:xfrm>
          <a:prstGeom prst="rect">
            <a:avLst/>
          </a:prstGeom>
          <a:solidFill>
            <a:srgbClr val="D6E8F7"/>
          </a:solidFill>
          <a:ln w="635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286000"/>
            <a:ext cx="2103120" cy="41148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3727" y="2331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Ingest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167" y="2788920"/>
            <a:ext cx="19202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B3A5C"/>
                </a:solidFill>
                <a:latin typeface="Calibri"/>
              </a:rPr>
              <a:t>Wikipedia + yfinance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3727" y="361188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2E6DA4"/>
                </a:solidFill>
                <a:latin typeface="Calibri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167" y="3840480"/>
            <a:ext cx="19202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6C757D"/>
                </a:solidFill>
                <a:latin typeface="Calibri"/>
              </a:rPr>
              <a:t>fact_table.parquet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1127" y="3017520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6DA4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04007" y="2286000"/>
            <a:ext cx="2103120" cy="1828800"/>
          </a:xfrm>
          <a:prstGeom prst="rect">
            <a:avLst/>
          </a:prstGeom>
          <a:solidFill>
            <a:srgbClr val="D6E8F7"/>
          </a:solidFill>
          <a:ln w="635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04007" y="2286000"/>
            <a:ext cx="2103120" cy="41148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04007" y="2331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Engineer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5447" y="2788920"/>
            <a:ext cx="19202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B3A5C"/>
                </a:solidFill>
                <a:latin typeface="Calibri"/>
              </a:rPr>
              <a:t>Technical indicators
Behavioral fingerprints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4007" y="361188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2E6DA4"/>
                </a:solidFill>
                <a:latin typeface="Calibri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5447" y="3840480"/>
            <a:ext cx="19202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6C757D"/>
                </a:solidFill>
                <a:latin typeface="Calibri"/>
              </a:rPr>
              <a:t>technicals + fingerprints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1407" y="3017520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6DA4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44287" y="2286000"/>
            <a:ext cx="2103120" cy="1828800"/>
          </a:xfrm>
          <a:prstGeom prst="rect">
            <a:avLst/>
          </a:prstGeom>
          <a:solidFill>
            <a:srgbClr val="D6E8F7"/>
          </a:solidFill>
          <a:ln w="635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4287" y="2286000"/>
            <a:ext cx="2103120" cy="41148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331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Cluster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5727" y="2788920"/>
            <a:ext cx="19202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B3A5C"/>
                </a:solidFill>
                <a:latin typeface="Calibri"/>
              </a:rPr>
              <a:t>K-Means + Hierarchical
+ DBSCAN + PCA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4287" y="361188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2E6DA4"/>
                </a:solidFill>
                <a:latin typeface="Calibri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35727" y="3840480"/>
            <a:ext cx="19202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6C757D"/>
                </a:solidFill>
                <a:latin typeface="Calibri"/>
              </a:rPr>
              <a:t>cluster_assignments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1687" y="3017520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6DA4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84567" y="2286000"/>
            <a:ext cx="2103120" cy="1828800"/>
          </a:xfrm>
          <a:prstGeom prst="rect">
            <a:avLst/>
          </a:prstGeom>
          <a:solidFill>
            <a:srgbClr val="D6E8F7"/>
          </a:solidFill>
          <a:ln w="635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84567" y="2286000"/>
            <a:ext cx="2103120" cy="41148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84567" y="2331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Classify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6007" y="2788920"/>
            <a:ext cx="19202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B3A5C"/>
                </a:solidFill>
                <a:latin typeface="Calibri"/>
              </a:rPr>
              <a:t>LogReg / Tree / RF / XGB
with vs without cluster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84567" y="361188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2E6DA4"/>
                </a:solidFill>
                <a:latin typeface="Calibri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6007" y="3840480"/>
            <a:ext cx="19202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6C757D"/>
                </a:solidFill>
                <a:latin typeface="Calibri"/>
              </a:rPr>
              <a:t>classification_metrics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1967" y="3017520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6DA4"/>
                </a:solidFill>
                <a:latin typeface="Calibri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24847" y="2286000"/>
            <a:ext cx="2103120" cy="1828800"/>
          </a:xfrm>
          <a:prstGeom prst="rect">
            <a:avLst/>
          </a:prstGeom>
          <a:solidFill>
            <a:srgbClr val="D6E8F7"/>
          </a:solidFill>
          <a:ln w="635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24847" y="2286000"/>
            <a:ext cx="2103120" cy="41148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24847" y="2331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Visualize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6287" y="2788920"/>
            <a:ext cx="19202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B3A5C"/>
                </a:solidFill>
                <a:latin typeface="Calibri"/>
              </a:rPr>
              <a:t>Streamlit dashboard
5 interactive pages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24847" y="361188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2E6DA4"/>
                </a:solidFill>
                <a:latin typeface="Calibri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16287" y="3840480"/>
            <a:ext cx="19202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6C757D"/>
                </a:solidFill>
                <a:latin typeface="Calibri"/>
              </a:rPr>
              <a:t>live URL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937760"/>
            <a:ext cx="11064240" cy="1097280"/>
          </a:xfrm>
          <a:prstGeom prst="rect">
            <a:avLst/>
          </a:prstGeom>
          <a:solidFill>
            <a:srgbClr val="F4F6F9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3A5C"/>
                </a:solidFill>
                <a:latin typeface="Calibri"/>
              </a:rPr>
              <a:t>Each stage caches its outputs as parquet. Re-running is incremental — only invalidated stages recompute.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C757D"/>
                </a:solidFill>
                <a:latin typeface="Calibri"/>
              </a:rPr>
              <a:t>First full run: 5–10 min · Cached re-runs: &lt;5 sec · Pipeline command: python pipeline.py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04 ·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From raw prices to model-ready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Five preprocessing passes ensure the data is statistically clean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112471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109728" cy="9144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Returns honesty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874519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pct_change(fill_method=None) — gaps stay as NaN instead of being silently filled with zeros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97480"/>
            <a:ext cx="112471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109728" cy="914400"/>
          </a:xfrm>
          <a:prstGeom prst="rect">
            <a:avLst/>
          </a:prstGeom>
          <a:solidFill>
            <a:srgbClr val="F0A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88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Market adjustment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83464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excess_return = stock_return − S&amp;P 500 return — strips out the systematic market tide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57600"/>
            <a:ext cx="112471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109728" cy="914400"/>
          </a:xfrm>
          <a:prstGeom prst="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749039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Missing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79476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Drop rows missing core fields (adj_close, raw_return); technical indicators have warm-up NaNs that are dropped at modeling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17720"/>
            <a:ext cx="112471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617720"/>
            <a:ext cx="109728" cy="9144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709159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Outlier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475488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Behavioral fingerprint features winsorized at 1st/99th percentile; daily-return outliers retained as genuine signal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577840"/>
            <a:ext cx="112471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577840"/>
            <a:ext cx="109728" cy="9144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669279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Feature scaling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71500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StandardScaler for clustering; price-relative ratios (MA / close) and log-volume to prevent magnitude domination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05 · FEATURE ENGINEERING —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Technical indicators (per stock-day)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8 indicators across 4 families — the standard quant-finance feature 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2743200" cy="4572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Trend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274320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42316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MA(20), MA(50)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Rolling mean of close — trend direction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39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MACD(12,26,9)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8620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EMA(12) − EMA(26) and signal — momentum shifts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828800"/>
            <a:ext cx="2743200" cy="457200"/>
          </a:xfrm>
          <a:prstGeom prst="rect">
            <a:avLst/>
          </a:prstGeom>
          <a:solidFill>
            <a:srgbClr val="F0A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8745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Momentum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2286000"/>
            <a:ext cx="274320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242316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RSI(14)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78892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EMA(gains)/EMA(losses) → 0..100 — overbought/oversold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828800"/>
            <a:ext cx="2743200" cy="457200"/>
          </a:xfrm>
          <a:prstGeom prst="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18745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Volatility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2286000"/>
            <a:ext cx="274320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242316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Bollinger(20, 2σ)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78892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MA ± 2σ; band width = vol regime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20439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ATR(14)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88620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Average true daily range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61772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Volatility(20d)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98348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Rolling std of returns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1828800"/>
            <a:ext cx="2743200" cy="4572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18745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Risk / Volume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1120" y="2286000"/>
            <a:ext cx="274320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0" y="242316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Beta(60d)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78892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Cov(stock, market) / Var(market) — market sensitivity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3520439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OBV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388620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Cumulative signed volume — accumulation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05 · FEATURE ENGINEERING —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Behavioral fingerprint (per stock)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Each stock collapses 5 years of daily data into a single 7-feature vector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91440" cy="5029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mean_excess_return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92024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Average alpha — outperformance vs market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95728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395728"/>
            <a:ext cx="91440" cy="5029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41448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volatility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487168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Std dev of daily excess returns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62656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962656"/>
            <a:ext cx="91440" cy="5029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08376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mean_beta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05409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Average 60-day rolling beta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529584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529584"/>
            <a:ext cx="91440" cy="5029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575304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mean_rsi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3621024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Average RSI level — momentum tendency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96512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96512"/>
            <a:ext cx="91440" cy="5029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142232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mean_bollinger_width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187952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Average band width — vol regime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663440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663440"/>
            <a:ext cx="91440" cy="5029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709160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max_drawdown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475488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Worst peak-to-trough loss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230368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230368"/>
            <a:ext cx="91440" cy="5029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276088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momentum_score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0" y="5321808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Average rolling 12-month return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1828800"/>
            <a:ext cx="5029200" cy="411480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3A5C"/>
                </a:solidFill>
                <a:latin typeface="Calibri"/>
              </a:rPr>
              <a:t>Each stock → 1 row × 7 features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256032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6DA4"/>
                </a:solidFill>
                <a:latin typeface="Calibri"/>
              </a:rPr>
              <a:t>Aggregation pipeline: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01752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1.  ~1,500 days × 8 indicators per stock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3383279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2.  Aggregate to means / std / 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749039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3.  Winsorize 1st / 99th percentile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1148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4.  StandardScaler normalize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44805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5.  Cluster on this 7-D vector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0" y="5212080"/>
            <a:ext cx="46634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0" y="525780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E6DA4"/>
                </a:solidFill>
                <a:latin typeface="Calibri"/>
              </a:rPr>
              <a:t>499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53492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stocks fingerprinted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06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Daily return distributions — raw vs market-adjusted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Market adjustment removes the common tide and reveals stock-specific behavior</a:t>
            </a:r>
          </a:p>
        </p:txBody>
      </p:sp>
      <p:pic>
        <p:nvPicPr>
          <p:cNvPr id="6" name="Picture 5" descr="eda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7772400" cy="3383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0" y="1828800"/>
            <a:ext cx="3291840" cy="393192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19202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6DA4"/>
                </a:solidFill>
                <a:latin typeface="Calibri"/>
              </a:rPr>
              <a:t>Reading the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37744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>
                <a:solidFill>
                  <a:srgbClr val="1B3A5C"/>
                </a:solidFill>
                <a:latin typeface="Calibri"/>
              </a:rPr>
              <a:t>• Both have fat tails (extreme moves more frequent than normal distribution)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>
                <a:solidFill>
                  <a:srgbClr val="1B3A5C"/>
                </a:solidFill>
                <a:latin typeface="Calibri"/>
              </a:rPr>
              <a:t>• Excess returns are tighter — the market component contributes substantial variance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>
                <a:solidFill>
                  <a:srgbClr val="1B3A5C"/>
                </a:solidFill>
                <a:latin typeface="Calibri"/>
              </a:rPr>
              <a:t>• Negative skew in both — crashes are sharper than rallies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394960"/>
            <a:ext cx="21945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0.0229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436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Raw std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5394960"/>
            <a:ext cx="21945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0" y="54864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0.0191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9436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Excess std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4960" y="5394960"/>
            <a:ext cx="21945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54864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47.0%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59436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Down days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5394960"/>
            <a:ext cx="21945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0" y="54864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53.0%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59436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Up days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06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Cumulative sector returns 2019 →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Each sector's path through five distinct market regimes</a:t>
            </a:r>
          </a:p>
        </p:txBody>
      </p:sp>
      <p:pic>
        <p:nvPicPr>
          <p:cNvPr id="6" name="Picture 5" descr="eda_se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47120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B3A5C"/>
                </a:solidFill>
                <a:latin typeface="Calibri"/>
              </a:rPr>
              <a:t>Tech and Communication Services led the period; Energy whip-sawed; defensives lagged.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06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Cross-stock correlation — the sector-vs-behavior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Even within the same period, stocks group by macro factor, not just sector</a:t>
            </a:r>
          </a:p>
        </p:txBody>
      </p:sp>
      <p:pic>
        <p:nvPicPr>
          <p:cNvPr id="6" name="Picture 5" descr="eda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400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1737360"/>
            <a:ext cx="4572000" cy="438912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8288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6DA4"/>
                </a:solidFill>
                <a:latin typeface="Calibri"/>
              </a:rPr>
              <a:t>What the heatmap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286000"/>
            <a:ext cx="4297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60 stocks (~5 per sector). Red = positive correlation, blue = negative. If sectors fully explained behavior, we'd see clean diagonal blocks.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4114800"/>
            <a:ext cx="42062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4206240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0.492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4663440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Avg within-sector corr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5212080"/>
            <a:ext cx="42062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5303520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0.369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760720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Avg cross-sector corr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07 · CLUSTERING —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Three algorithms, one feature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Same 7-D fingerprint → three different ways of finding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3474720" cy="54864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K-Means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77440"/>
            <a:ext cx="347472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Partition into k spherical clusters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Pick K via elbow + silhouette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Random_state=42 for reproducibility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Final K =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828800"/>
            <a:ext cx="3474720" cy="548640"/>
          </a:xfrm>
          <a:prstGeom prst="rect">
            <a:avLst/>
          </a:prstGeom>
          <a:solidFill>
            <a:srgbClr val="F0A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874519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Hierarchical (Ward)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2377440"/>
            <a:ext cx="347472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Builds a nested cluster tree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No need to pre-specify K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Dendrogram shows merge structure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Cut tree at K = 5 for comparison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828800"/>
            <a:ext cx="3474720" cy="548640"/>
          </a:xfrm>
          <a:prstGeom prst="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874519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DBSCAN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2377440"/>
            <a:ext cx="347472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19" y="246888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Density-based — finds non-spherical clusters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Identifies outliers as noise (label = -1)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Useful for detecting idiosyncratic stocks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eps = 0.9, min_samples = 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486400"/>
            <a:ext cx="11247120" cy="82296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B3A5C"/>
                </a:solidFill>
                <a:latin typeface="Calibri"/>
              </a:rPr>
              <a:t>Evaluation: silhouette (cluster quality) + ARI vs GICS sectors (do they match official labels?)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07 ·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Choosing K — elbow + silhouette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Inertia drops sharply through K=4–6, silhouette peaks; K=5 is the chosen balance</a:t>
            </a:r>
          </a:p>
        </p:txBody>
      </p:sp>
      <p:pic>
        <p:nvPicPr>
          <p:cNvPr id="6" name="Picture 5" descr="kmeans_di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7772400" cy="4206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0" y="1828800"/>
            <a:ext cx="3291840" cy="411480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19202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6DA4"/>
                </a:solidFill>
                <a:latin typeface="Calibri"/>
              </a:rPr>
              <a:t>Diagnostics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2377440"/>
            <a:ext cx="2926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246888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K =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9260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Silhouette peak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3520440"/>
            <a:ext cx="2926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361188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0.419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0690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Peak silhouette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4663440"/>
            <a:ext cx="31089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1B3A5C"/>
                </a:solidFill>
                <a:latin typeface="Calibri"/>
              </a:rPr>
              <a:t>We use K = 5 — close to the peak with cleaner interpretability for sector comparison.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07 ·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PCA projection — clusters vs GICS sectors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Same 2D space, two color schemes — visual evidence of structural mismatch</a:t>
            </a:r>
          </a:p>
        </p:txBody>
      </p:sp>
      <p:pic>
        <p:nvPicPr>
          <p:cNvPr id="6" name="Picture 5" descr="pca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47120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B3A5C"/>
                </a:solidFill>
                <a:latin typeface="Calibri"/>
              </a:rPr>
              <a:t>PC1 explains 56.7% · PC2 explains 30.2% · combined 87.0% of variance.  Clusters are clean blobs; sectors overlap substantially in this space.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07 · CLUSTERING — 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Behavioral clusters do not equal GICS sectors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Adjusted Rand Index quantifies the disagreement</a:t>
            </a:r>
          </a:p>
        </p:txBody>
      </p:sp>
      <p:pic>
        <p:nvPicPr>
          <p:cNvPr id="6" name="Picture 5" descr="cluster_secto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73152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46720" y="1737360"/>
            <a:ext cx="3657600" cy="438912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6DA4"/>
                </a:solidFill>
                <a:latin typeface="Calibri"/>
              </a:rPr>
              <a:t>Adjusted Rand Index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228600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0.045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83464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K-Means ARI vs GICS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38328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47472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0.047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9319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Hierarchical ARI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448056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45720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0.253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502920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K-Means silhouette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5577840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Calibri"/>
              </a:rPr>
              <a:t>ARI = 0 → independent · ARI = 1 → identical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07 ·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What does each cluster look like?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Centroid profile reveals the behavioral archetype</a:t>
            </a:r>
          </a:p>
        </p:txBody>
      </p:sp>
      <p:pic>
        <p:nvPicPr>
          <p:cNvPr id="6" name="Picture 5" descr="cluster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400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1737360"/>
            <a:ext cx="4572000" cy="438912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8288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6DA4"/>
                </a:solidFill>
                <a:latin typeface="Calibri"/>
              </a:rPr>
              <a:t>Cluster sizes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2286000"/>
            <a:ext cx="2836984" cy="2743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2286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C0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00824" y="22860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Calibri"/>
              </a:rPr>
              <a:t>121 stocks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2743200"/>
            <a:ext cx="1266092" cy="274320"/>
          </a:xfrm>
          <a:prstGeom prst="rect">
            <a:avLst/>
          </a:prstGeom>
          <a:solidFill>
            <a:srgbClr val="F0A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27432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C1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9932" y="27432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Calibri"/>
              </a:rPr>
              <a:t>54 stocks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3200400"/>
            <a:ext cx="3657600" cy="274320"/>
          </a:xfrm>
          <a:prstGeom prst="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32004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C2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0" y="32004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Calibri"/>
              </a:rPr>
              <a:t>156 stocks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3657600"/>
            <a:ext cx="398584" cy="27432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36576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C3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2424" y="36576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Calibri"/>
              </a:rPr>
              <a:t>17 stocks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4114800"/>
            <a:ext cx="3540369" cy="27432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0" y="41148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C4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04209" y="41148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Calibri"/>
              </a:rPr>
              <a:t>151 stocks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5120640"/>
            <a:ext cx="4297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1B3A5C"/>
                </a:solidFill>
                <a:latin typeface="Calibri"/>
              </a:rPr>
              <a:t>Each cluster is a risk archetype — distinct combinations of return, volatility, and trend behavior.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08 · CLASSIFICATION —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Predict 5-day forward direction; test whether cluster label adds signal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6DA4"/>
                </a:solidFill>
                <a:latin typeface="Calibri"/>
              </a:rPr>
              <a:t>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92024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forward_5day_direction (binary)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95728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6DA4"/>
                </a:solidFill>
                <a:latin typeface="Calibri"/>
              </a:rPr>
              <a:t>Features w/o cluster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48716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14 technical indicators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62656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54096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6DA4"/>
                </a:solidFill>
                <a:latin typeface="Calibri"/>
              </a:rPr>
              <a:t>Features w/ cluster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05409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14 technicals + behavioral cluster label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29584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21024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6DA4"/>
                </a:solidFill>
                <a:latin typeface="Calibri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3621024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Years &lt; 2023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96512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18795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6DA4"/>
                </a:solidFill>
                <a:latin typeface="Calibri"/>
              </a:rPr>
              <a:t>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418795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2023–2024 (held-out future)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63440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7548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6DA4"/>
                </a:solidFill>
                <a:latin typeface="Calibri"/>
              </a:rPr>
              <a:t>Split type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475488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Temporal (no random shuffling on time series)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19202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6DA4"/>
                </a:solidFill>
                <a:latin typeface="Calibri"/>
              </a:rPr>
              <a:t>Models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37744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Logistic Regression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67004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Linear baseline — sets the predictability floor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1546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Decision Tree (depth=8)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44728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Interpretable non-linear 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393192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Random Forest (200 trees)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42245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Primary model — handles interactions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4709159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XGBoost (300 rounds)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500176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Strongest model — boosted gradient trees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03520"/>
            <a:ext cx="11247120" cy="731520"/>
          </a:xfrm>
          <a:prstGeom prst="rect">
            <a:avLst/>
          </a:prstGeom>
          <a:solidFill>
            <a:srgbClr val="F0A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Naive 'always-up' baseline accuracy: 0.542 — any model must beat this meaningfully.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08 · CLASSIFICATION —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Model comparison: ROC-AUC with vs without cluster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Does the behavioral cluster label add predictive signal?</a:t>
            </a:r>
          </a:p>
        </p:txBody>
      </p:sp>
      <p:pic>
        <p:nvPicPr>
          <p:cNvPr id="6" name="Picture 5" descr="model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7772400" cy="4206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0" y="1828800"/>
            <a:ext cx="3291840" cy="411480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19202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6DA4"/>
                </a:solidFill>
                <a:latin typeface="Calibri"/>
              </a:rPr>
              <a:t>Best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2331720"/>
            <a:ext cx="2926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242316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0.514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8803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XGBoost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5204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6DA4"/>
                </a:solidFill>
                <a:latin typeface="Calibri"/>
              </a:rPr>
              <a:t>ROC-AUC delta (avg)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3886200"/>
            <a:ext cx="2926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397764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+0.0093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44348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4/4 models improved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08 ·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What features drive the prediction?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Random Forest feature importance — RSI and momentum dominate</a:t>
            </a:r>
          </a:p>
        </p:txBody>
      </p:sp>
      <p:pic>
        <p:nvPicPr>
          <p:cNvPr id="6" name="Picture 5" descr="feat_i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7772400" cy="4206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0" y="1828800"/>
            <a:ext cx="3291840" cy="411480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19202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6DA4"/>
                </a:solidFill>
                <a:latin typeface="Calibri"/>
              </a:rPr>
              <a:t>Top 3 features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2286000"/>
            <a:ext cx="29260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237744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C757D"/>
                </a:solidFill>
                <a:latin typeface="Calibri"/>
              </a:rP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6060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3A5C"/>
                </a:solidFill>
                <a:latin typeface="Calibri"/>
              </a:rPr>
              <a:t>beta_60d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9260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Calibri"/>
              </a:rPr>
              <a:t>importance: 0.096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3337560"/>
            <a:ext cx="29260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342900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C757D"/>
                </a:solidFill>
                <a:latin typeface="Calibri"/>
              </a:rPr>
              <a:t>#2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6576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3A5C"/>
                </a:solidFill>
                <a:latin typeface="Calibri"/>
              </a:rPr>
              <a:t>volatility_20d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977639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Calibri"/>
              </a:rPr>
              <a:t>importance: 0.085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5360" y="4389120"/>
            <a:ext cx="29260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4480559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C757D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470915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3A5C"/>
                </a:solidFill>
                <a:latin typeface="Calibri"/>
              </a:rPr>
              <a:t>ma_50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50292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Calibri"/>
              </a:rPr>
              <a:t>importance: 0.076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09 · RESULTS &amp;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Headline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What the analysis ultimately demonstrates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2E6DA4"/>
                </a:solidFill>
                <a:latin typeface="Calibri"/>
              </a:rPr>
              <a:t>501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C757D"/>
                </a:solidFill>
                <a:latin typeface="Calibri"/>
              </a:rPr>
              <a:t>Tickers analyzed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82880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96596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2E6DA4"/>
                </a:solidFill>
                <a:latin typeface="Calibri"/>
              </a:rPr>
              <a:t>743,837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974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C757D"/>
                </a:solidFill>
                <a:latin typeface="Calibri"/>
              </a:rPr>
              <a:t>Stock-day rows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82880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96596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2E6DA4"/>
                </a:solidFill>
                <a:latin typeface="Calibri"/>
              </a:rPr>
              <a:t>0.045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6974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C757D"/>
                </a:solidFill>
                <a:latin typeface="Calibri"/>
              </a:rPr>
              <a:t>ARI (clusters vs GICS)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9184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2900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2E6DA4"/>
                </a:solidFill>
                <a:latin typeface="Calibri"/>
              </a:rPr>
              <a:t>0.514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16052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C757D"/>
                </a:solidFill>
                <a:latin typeface="Calibri"/>
              </a:rPr>
              <a:t>Best ROC-AUC (XGBoost)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329184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342900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2E6DA4"/>
                </a:solidFill>
                <a:latin typeface="Calibri"/>
              </a:rPr>
              <a:t>0.528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16052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C757D"/>
                </a:solidFill>
                <a:latin typeface="Calibri"/>
              </a:rPr>
              <a:t>Best accuracy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329184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42900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2E6DA4"/>
                </a:solidFill>
                <a:latin typeface="Calibri"/>
              </a:rPr>
              <a:t>0.542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16052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C757D"/>
                </a:solidFill>
                <a:latin typeface="Calibri"/>
              </a:rPr>
              <a:t>Naive baseline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0749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A8C8E8"/>
                </a:solidFill>
                <a:latin typeface="Calibri"/>
              </a:rPr>
              <a:t>Take-home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440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Behavioral clusters genuinely diverge from GICS sectors (ARI = 0.045). The best model (XGBoost) beats the naive baseline by -1.4% accuracy — modest but meaningful given weak-form efficient market expectations. Cluster label provides a small marginal lift.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10 ·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Three findings that answer the research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112471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137160" cy="14173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6DA4"/>
                </a:solidFill>
                <a:latin typeface="Calibri"/>
              </a:rPr>
              <a:t>Finding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3A5C"/>
                </a:solidFill>
                <a:latin typeface="Calibri"/>
              </a:rPr>
              <a:t>Behavioral clusters ≠ GICS sectors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ARI = 0.045. Clusters group stocks by risk profile (growth, defensive, cyclical), not by industry. The official taxonomy hides this structural lens.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00400"/>
            <a:ext cx="112471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200400"/>
            <a:ext cx="137160" cy="1417320"/>
          </a:xfrm>
          <a:prstGeom prst="rect">
            <a:avLst/>
          </a:prstGeom>
          <a:solidFill>
            <a:srgbClr val="F0A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29184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0AD4E"/>
                </a:solidFill>
                <a:latin typeface="Calibri"/>
              </a:rPr>
              <a:t>Finding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3A5C"/>
                </a:solidFill>
                <a:latin typeface="Calibri"/>
              </a:rPr>
              <a:t>Short-term direction prediction is hard but not impossible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77639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Best ROC-AUC: 0.514, accuracy: 0.528. Above the 0.542 naive baseline. Aligns with weak-form market efficiency — technicals contain real but small signal.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754880"/>
            <a:ext cx="112471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754880"/>
            <a:ext cx="137160" cy="1417320"/>
          </a:xfrm>
          <a:prstGeom prst="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CB85C"/>
                </a:solidFill>
                <a:latin typeface="Calibri"/>
              </a:rPr>
              <a:t>Finding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2064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3A5C"/>
                </a:solidFill>
                <a:latin typeface="Calibri"/>
              </a:rPr>
              <a:t>Cluster label adds marginal but real predictive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5321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Adding the cluster label changed average ROC-AUC by +0.0093. It's partially redundant with technicals, but still validates the two-part design.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11 · FUTURE WORK &amp; 12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Where next, and how it's deployed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Honest limitations + the live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6DA4"/>
                </a:solidFill>
                <a:latin typeface="Calibri"/>
              </a:rPr>
              <a:t>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Survivorship bias: include delisted stocks via CRSP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Rolling-window clustering — capture regime-shifting behavior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Multi-horizon prediction (1-day, 20-day, 60-day)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Transaction costs + position sizing → economic Sharpe ratio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Add fundamentals (P/E, earnings surprise) and news sentiment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Deep models (LSTM, transformer) on raw OHLCV sequences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6DA4"/>
                </a:solidFill>
                <a:latin typeface="Calibri"/>
              </a:rP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3774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Streamlit Community Cloud (free tier)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C757D"/>
                </a:solidFill>
                <a:latin typeface="Calibri"/>
              </a:rPr>
              <a:t>Repo: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E6DA4"/>
                </a:solidFill>
                <a:latin typeface="Calibri"/>
              </a:rPr>
              <a:t>github.com/PeramVishnuSree/Stock-Behavioral-Clustering-and-Return-Prediction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5661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6DA4"/>
                </a:solidFill>
                <a:latin typeface="Calibri"/>
              </a:rPr>
              <a:t>Live dashboard pages: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9319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1B3A5C"/>
                </a:solidFill>
                <a:latin typeface="Calibri"/>
              </a:rPr>
              <a:t>• 📊  Data Overview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1B3A5C"/>
                </a:solidFill>
                <a:latin typeface="Calibri"/>
              </a:rPr>
              <a:t>• 📈  EDA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1B3A5C"/>
                </a:solidFill>
                <a:latin typeface="Calibri"/>
              </a:rPr>
              <a:t>• 🎯  Clustering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1B3A5C"/>
                </a:solidFill>
                <a:latin typeface="Calibri"/>
              </a:rPr>
              <a:t>• 🔮  Prediction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1B3A5C"/>
                </a:solidFill>
                <a:latin typeface="Calibri"/>
              </a:rPr>
              <a:t>• 📋  Methodology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Thank you — questions?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